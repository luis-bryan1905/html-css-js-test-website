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65" r:id="rId3"/>
    <p:sldId id="264" r:id="rId4"/>
    <p:sldId id="256" r:id="rId5"/>
    <p:sldId id="259" r:id="rId6"/>
    <p:sldId id="260"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F734E1-C213-65B3-8A2E-0D3A0084EC27}" v="266" dt="2025-12-12T15:44:54.6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is Bryan" userId="S::luis.bryan@mail.bcu.ac.uk::008f8afd-7427-4332-9e7e-cd5a4d28860f" providerId="AD" clId="Web-{5F312AF6-48AA-93A1-97F4-FEA09EB976D9}"/>
    <pc:docChg chg="addSld delSld modSld sldOrd">
      <pc:chgData name="Luis Bryan" userId="S::luis.bryan@mail.bcu.ac.uk::008f8afd-7427-4332-9e7e-cd5a4d28860f" providerId="AD" clId="Web-{5F312AF6-48AA-93A1-97F4-FEA09EB976D9}" dt="2025-11-21T15:13:32.895" v="673" actId="20577"/>
      <pc:docMkLst>
        <pc:docMk/>
      </pc:docMkLst>
      <pc:sldChg chg="modSp">
        <pc:chgData name="Luis Bryan" userId="S::luis.bryan@mail.bcu.ac.uk::008f8afd-7427-4332-9e7e-cd5a4d28860f" providerId="AD" clId="Web-{5F312AF6-48AA-93A1-97F4-FEA09EB976D9}" dt="2025-11-21T15:05:48.867" v="644"/>
        <pc:sldMkLst>
          <pc:docMk/>
          <pc:sldMk cId="109857222" sldId="256"/>
        </pc:sldMkLst>
        <pc:graphicFrameChg chg="mod modGraphic">
          <ac:chgData name="Luis Bryan" userId="S::luis.bryan@mail.bcu.ac.uk::008f8afd-7427-4332-9e7e-cd5a4d28860f" providerId="AD" clId="Web-{5F312AF6-48AA-93A1-97F4-FEA09EB976D9}" dt="2025-11-21T15:05:48.867" v="644"/>
          <ac:graphicFrameMkLst>
            <pc:docMk/>
            <pc:sldMk cId="109857222" sldId="256"/>
            <ac:graphicFrameMk id="4" creationId="{36F8C8E1-6F5A-80B4-5095-45D070BE93A1}"/>
          </ac:graphicFrameMkLst>
        </pc:graphicFrameChg>
      </pc:sldChg>
      <pc:sldChg chg="modSp">
        <pc:chgData name="Luis Bryan" userId="S::luis.bryan@mail.bcu.ac.uk::008f8afd-7427-4332-9e7e-cd5a4d28860f" providerId="AD" clId="Web-{5F312AF6-48AA-93A1-97F4-FEA09EB976D9}" dt="2025-11-21T14:39:09.099" v="389" actId="14100"/>
        <pc:sldMkLst>
          <pc:docMk/>
          <pc:sldMk cId="2926899663" sldId="257"/>
        </pc:sldMkLst>
        <pc:spChg chg="mod">
          <ac:chgData name="Luis Bryan" userId="S::luis.bryan@mail.bcu.ac.uk::008f8afd-7427-4332-9e7e-cd5a4d28860f" providerId="AD" clId="Web-{5F312AF6-48AA-93A1-97F4-FEA09EB976D9}" dt="2025-11-21T14:19:56.069" v="14" actId="20577"/>
          <ac:spMkLst>
            <pc:docMk/>
            <pc:sldMk cId="2926899663" sldId="257"/>
            <ac:spMk id="2" creationId="{EC28E988-B7ED-B50B-7A98-FD53A8019127}"/>
          </ac:spMkLst>
        </pc:spChg>
        <pc:spChg chg="mod">
          <ac:chgData name="Luis Bryan" userId="S::luis.bryan@mail.bcu.ac.uk::008f8afd-7427-4332-9e7e-cd5a4d28860f" providerId="AD" clId="Web-{5F312AF6-48AA-93A1-97F4-FEA09EB976D9}" dt="2025-11-21T14:39:09.099" v="389" actId="14100"/>
          <ac:spMkLst>
            <pc:docMk/>
            <pc:sldMk cId="2926899663" sldId="257"/>
            <ac:spMk id="3" creationId="{2AF0A810-5713-49C6-EE20-8781B22EE367}"/>
          </ac:spMkLst>
        </pc:spChg>
      </pc:sldChg>
      <pc:sldChg chg="modSp ord">
        <pc:chgData name="Luis Bryan" userId="S::luis.bryan@mail.bcu.ac.uk::008f8afd-7427-4332-9e7e-cd5a4d28860f" providerId="AD" clId="Web-{5F312AF6-48AA-93A1-97F4-FEA09EB976D9}" dt="2025-11-21T14:17:59.875" v="9" actId="20577"/>
        <pc:sldMkLst>
          <pc:docMk/>
          <pc:sldMk cId="963199892" sldId="258"/>
        </pc:sldMkLst>
        <pc:spChg chg="mod">
          <ac:chgData name="Luis Bryan" userId="S::luis.bryan@mail.bcu.ac.uk::008f8afd-7427-4332-9e7e-cd5a4d28860f" providerId="AD" clId="Web-{5F312AF6-48AA-93A1-97F4-FEA09EB976D9}" dt="2025-11-21T14:17:59.875" v="9" actId="20577"/>
          <ac:spMkLst>
            <pc:docMk/>
            <pc:sldMk cId="963199892" sldId="258"/>
            <ac:spMk id="2" creationId="{C3AFE24D-5330-A550-F15F-450A11E4E124}"/>
          </ac:spMkLst>
        </pc:spChg>
      </pc:sldChg>
      <pc:sldChg chg="addSp delSp modSp mod setBg">
        <pc:chgData name="Luis Bryan" userId="S::luis.bryan@mail.bcu.ac.uk::008f8afd-7427-4332-9e7e-cd5a4d28860f" providerId="AD" clId="Web-{5F312AF6-48AA-93A1-97F4-FEA09EB976D9}" dt="2025-11-21T15:13:32.895" v="673" actId="20577"/>
        <pc:sldMkLst>
          <pc:docMk/>
          <pc:sldMk cId="2663315821" sldId="260"/>
        </pc:sldMkLst>
        <pc:spChg chg="mod ord">
          <ac:chgData name="Luis Bryan" userId="S::luis.bryan@mail.bcu.ac.uk::008f8afd-7427-4332-9e7e-cd5a4d28860f" providerId="AD" clId="Web-{5F312AF6-48AA-93A1-97F4-FEA09EB976D9}" dt="2025-11-21T15:13:32.895" v="673" actId="20577"/>
          <ac:spMkLst>
            <pc:docMk/>
            <pc:sldMk cId="2663315821" sldId="260"/>
            <ac:spMk id="4" creationId="{EA7A4C74-A06A-6FED-D290-2DDC7BF470E5}"/>
          </ac:spMkLst>
        </pc:spChg>
        <pc:spChg chg="mod">
          <ac:chgData name="Luis Bryan" userId="S::luis.bryan@mail.bcu.ac.uk::008f8afd-7427-4332-9e7e-cd5a4d28860f" providerId="AD" clId="Web-{5F312AF6-48AA-93A1-97F4-FEA09EB976D9}" dt="2025-11-21T14:33:30.417" v="307"/>
          <ac:spMkLst>
            <pc:docMk/>
            <pc:sldMk cId="2663315821" sldId="260"/>
            <ac:spMk id="8" creationId="{DB84807E-ACEE-7AAD-D24B-336D2E3B9A75}"/>
          </ac:spMkLst>
        </pc:spChg>
        <pc:spChg chg="add">
          <ac:chgData name="Luis Bryan" userId="S::luis.bryan@mail.bcu.ac.uk::008f8afd-7427-4332-9e7e-cd5a4d28860f" providerId="AD" clId="Web-{5F312AF6-48AA-93A1-97F4-FEA09EB976D9}" dt="2025-11-21T14:33:30.417" v="307"/>
          <ac:spMkLst>
            <pc:docMk/>
            <pc:sldMk cId="2663315821" sldId="260"/>
            <ac:spMk id="14" creationId="{9F7D5CDA-D291-4307-BF55-1381FED29634}"/>
          </ac:spMkLst>
        </pc:spChg>
        <pc:picChg chg="add">
          <ac:chgData name="Luis Bryan" userId="S::luis.bryan@mail.bcu.ac.uk::008f8afd-7427-4332-9e7e-cd5a4d28860f" providerId="AD" clId="Web-{5F312AF6-48AA-93A1-97F4-FEA09EB976D9}" dt="2025-11-21T14:33:30.417" v="307"/>
          <ac:picMkLst>
            <pc:docMk/>
            <pc:sldMk cId="2663315821" sldId="260"/>
            <ac:picMk id="10" creationId="{2DF0CD45-9D79-5C24-2943-0690958FA8E7}"/>
          </ac:picMkLst>
        </pc:picChg>
      </pc:sldChg>
      <pc:sldChg chg="addSp delSp modSp mod ord setBg">
        <pc:chgData name="Luis Bryan" userId="S::luis.bryan@mail.bcu.ac.uk::008f8afd-7427-4332-9e7e-cd5a4d28860f" providerId="AD" clId="Web-{5F312AF6-48AA-93A1-97F4-FEA09EB976D9}" dt="2025-11-21T15:08:08.860" v="670"/>
        <pc:sldMkLst>
          <pc:docMk/>
          <pc:sldMk cId="3926283193" sldId="263"/>
        </pc:sldMkLst>
        <pc:spChg chg="mod ord">
          <ac:chgData name="Luis Bryan" userId="S::luis.bryan@mail.bcu.ac.uk::008f8afd-7427-4332-9e7e-cd5a4d28860f" providerId="AD" clId="Web-{5F312AF6-48AA-93A1-97F4-FEA09EB976D9}" dt="2025-11-21T15:08:08.860" v="670"/>
          <ac:spMkLst>
            <pc:docMk/>
            <pc:sldMk cId="3926283193" sldId="263"/>
            <ac:spMk id="4" creationId="{667B1526-5E3E-6AA7-D544-8A22C623FE84}"/>
          </ac:spMkLst>
        </pc:spChg>
        <pc:spChg chg="mod">
          <ac:chgData name="Luis Bryan" userId="S::luis.bryan@mail.bcu.ac.uk::008f8afd-7427-4332-9e7e-cd5a4d28860f" providerId="AD" clId="Web-{5F312AF6-48AA-93A1-97F4-FEA09EB976D9}" dt="2025-11-21T14:33:41.043" v="309"/>
          <ac:spMkLst>
            <pc:docMk/>
            <pc:sldMk cId="3926283193" sldId="263"/>
            <ac:spMk id="8" creationId="{035DD3F8-D58C-71EB-1A68-707D4CBACAD7}"/>
          </ac:spMkLst>
        </pc:spChg>
        <pc:spChg chg="add">
          <ac:chgData name="Luis Bryan" userId="S::luis.bryan@mail.bcu.ac.uk::008f8afd-7427-4332-9e7e-cd5a4d28860f" providerId="AD" clId="Web-{5F312AF6-48AA-93A1-97F4-FEA09EB976D9}" dt="2025-11-21T14:33:41.043" v="309"/>
          <ac:spMkLst>
            <pc:docMk/>
            <pc:sldMk cId="3926283193" sldId="263"/>
            <ac:spMk id="14" creationId="{C0763A76-9F1C-4FC5-82B7-DD475DA461B2}"/>
          </ac:spMkLst>
        </pc:spChg>
        <pc:spChg chg="add">
          <ac:chgData name="Luis Bryan" userId="S::luis.bryan@mail.bcu.ac.uk::008f8afd-7427-4332-9e7e-cd5a4d28860f" providerId="AD" clId="Web-{5F312AF6-48AA-93A1-97F4-FEA09EB976D9}" dt="2025-11-21T14:33:41.043" v="309"/>
          <ac:spMkLst>
            <pc:docMk/>
            <pc:sldMk cId="3926283193" sldId="263"/>
            <ac:spMk id="16" creationId="{E81BF4F6-F2CF-4984-9D14-D6966D92F99F}"/>
          </ac:spMkLst>
        </pc:spChg>
        <pc:picChg chg="add">
          <ac:chgData name="Luis Bryan" userId="S::luis.bryan@mail.bcu.ac.uk::008f8afd-7427-4332-9e7e-cd5a4d28860f" providerId="AD" clId="Web-{5F312AF6-48AA-93A1-97F4-FEA09EB976D9}" dt="2025-11-21T14:33:41.043" v="309"/>
          <ac:picMkLst>
            <pc:docMk/>
            <pc:sldMk cId="3926283193" sldId="263"/>
            <ac:picMk id="10" creationId="{C3E49B96-6060-0B84-557F-1E668972F03B}"/>
          </ac:picMkLst>
        </pc:picChg>
      </pc:sldChg>
      <pc:sldChg chg="addSp delSp modSp add replId">
        <pc:chgData name="Luis Bryan" userId="S::luis.bryan@mail.bcu.ac.uk::008f8afd-7427-4332-9e7e-cd5a4d28860f" providerId="AD" clId="Web-{5F312AF6-48AA-93A1-97F4-FEA09EB976D9}" dt="2025-11-21T15:07:46.952" v="663" actId="14100"/>
        <pc:sldMkLst>
          <pc:docMk/>
          <pc:sldMk cId="4041265617" sldId="264"/>
        </pc:sldMkLst>
        <pc:spChg chg="mod">
          <ac:chgData name="Luis Bryan" userId="S::luis.bryan@mail.bcu.ac.uk::008f8afd-7427-4332-9e7e-cd5a4d28860f" providerId="AD" clId="Web-{5F312AF6-48AA-93A1-97F4-FEA09EB976D9}" dt="2025-11-21T15:07:46.952" v="663" actId="14100"/>
          <ac:spMkLst>
            <pc:docMk/>
            <pc:sldMk cId="4041265617" sldId="264"/>
            <ac:spMk id="3" creationId="{7FDB8EFF-EC14-96A7-B3ED-2B4971198A3B}"/>
          </ac:spMkLst>
        </pc:spChg>
        <pc:picChg chg="add mod modCrop">
          <ac:chgData name="Luis Bryan" userId="S::luis.bryan@mail.bcu.ac.uk::008f8afd-7427-4332-9e7e-cd5a4d28860f" providerId="AD" clId="Web-{5F312AF6-48AA-93A1-97F4-FEA09EB976D9}" dt="2025-11-21T15:07:44.561" v="662" actId="1076"/>
          <ac:picMkLst>
            <pc:docMk/>
            <pc:sldMk cId="4041265617" sldId="264"/>
            <ac:picMk id="5" creationId="{0A7F6896-665E-8FCA-6C76-B3E28E289FF0}"/>
          </ac:picMkLst>
        </pc:picChg>
      </pc:sldChg>
      <pc:sldChg chg="modSp add ord replId">
        <pc:chgData name="Luis Bryan" userId="S::luis.bryan@mail.bcu.ac.uk::008f8afd-7427-4332-9e7e-cd5a4d28860f" providerId="AD" clId="Web-{5F312AF6-48AA-93A1-97F4-FEA09EB976D9}" dt="2025-11-21T15:05:06.414" v="608"/>
        <pc:sldMkLst>
          <pc:docMk/>
          <pc:sldMk cId="2067981762" sldId="265"/>
        </pc:sldMkLst>
        <pc:graphicFrameChg chg="mod modGraphic">
          <ac:chgData name="Luis Bryan" userId="S::luis.bryan@mail.bcu.ac.uk::008f8afd-7427-4332-9e7e-cd5a4d28860f" providerId="AD" clId="Web-{5F312AF6-48AA-93A1-97F4-FEA09EB976D9}" dt="2025-11-21T15:05:06.414" v="608"/>
          <ac:graphicFrameMkLst>
            <pc:docMk/>
            <pc:sldMk cId="2067981762" sldId="265"/>
            <ac:graphicFrameMk id="4" creationId="{7F9721BD-8144-EBB7-0421-42ADDB135EA0}"/>
          </ac:graphicFrameMkLst>
        </pc:graphicFrameChg>
      </pc:sldChg>
    </pc:docChg>
  </pc:docChgLst>
  <pc:docChgLst>
    <pc:chgData name="Luis Bryan" userId="S::luis.bryan@mail.bcu.ac.uk::008f8afd-7427-4332-9e7e-cd5a4d28860f" providerId="AD" clId="Web-{2BF734E1-C213-65B3-8A2E-0D3A0084EC27}"/>
    <pc:docChg chg="delSld modSld sldOrd">
      <pc:chgData name="Luis Bryan" userId="S::luis.bryan@mail.bcu.ac.uk::008f8afd-7427-4332-9e7e-cd5a4d28860f" providerId="AD" clId="Web-{2BF734E1-C213-65B3-8A2E-0D3A0084EC27}" dt="2025-12-12T15:44:53.102" v="258" actId="20577"/>
      <pc:docMkLst>
        <pc:docMk/>
      </pc:docMkLst>
      <pc:sldChg chg="modSp ord">
        <pc:chgData name="Luis Bryan" userId="S::luis.bryan@mail.bcu.ac.uk::008f8afd-7427-4332-9e7e-cd5a4d28860f" providerId="AD" clId="Web-{2BF734E1-C213-65B3-8A2E-0D3A0084EC27}" dt="2025-12-12T15:44:08.865" v="245"/>
        <pc:sldMkLst>
          <pc:docMk/>
          <pc:sldMk cId="109857222" sldId="256"/>
        </pc:sldMkLst>
        <pc:graphicFrameChg chg="mod modGraphic">
          <ac:chgData name="Luis Bryan" userId="S::luis.bryan@mail.bcu.ac.uk::008f8afd-7427-4332-9e7e-cd5a4d28860f" providerId="AD" clId="Web-{2BF734E1-C213-65B3-8A2E-0D3A0084EC27}" dt="2025-12-12T15:43:42.614" v="243"/>
          <ac:graphicFrameMkLst>
            <pc:docMk/>
            <pc:sldMk cId="109857222" sldId="256"/>
            <ac:graphicFrameMk id="4" creationId="{36F8C8E1-6F5A-80B4-5095-45D070BE93A1}"/>
          </ac:graphicFrameMkLst>
        </pc:graphicFrameChg>
      </pc:sldChg>
      <pc:sldChg chg="del">
        <pc:chgData name="Luis Bryan" userId="S::luis.bryan@mail.bcu.ac.uk::008f8afd-7427-4332-9e7e-cd5a4d28860f" providerId="AD" clId="Web-{2BF734E1-C213-65B3-8A2E-0D3A0084EC27}" dt="2025-12-12T15:44:04.412" v="244"/>
        <pc:sldMkLst>
          <pc:docMk/>
          <pc:sldMk cId="2926899663" sldId="257"/>
        </pc:sldMkLst>
      </pc:sldChg>
      <pc:sldChg chg="modSp">
        <pc:chgData name="Luis Bryan" userId="S::luis.bryan@mail.bcu.ac.uk::008f8afd-7427-4332-9e7e-cd5a4d28860f" providerId="AD" clId="Web-{2BF734E1-C213-65B3-8A2E-0D3A0084EC27}" dt="2025-12-12T15:44:53.102" v="258" actId="20577"/>
        <pc:sldMkLst>
          <pc:docMk/>
          <pc:sldMk cId="963199892" sldId="258"/>
        </pc:sldMkLst>
        <pc:spChg chg="mod">
          <ac:chgData name="Luis Bryan" userId="S::luis.bryan@mail.bcu.ac.uk::008f8afd-7427-4332-9e7e-cd5a4d28860f" providerId="AD" clId="Web-{2BF734E1-C213-65B3-8A2E-0D3A0084EC27}" dt="2025-12-12T15:44:53.102" v="258" actId="20577"/>
          <ac:spMkLst>
            <pc:docMk/>
            <pc:sldMk cId="963199892" sldId="258"/>
            <ac:spMk id="2" creationId="{C3AFE24D-5330-A550-F15F-450A11E4E124}"/>
          </ac:spMkLst>
        </pc:spChg>
      </pc:sldChg>
      <pc:sldChg chg="modSp">
        <pc:chgData name="Luis Bryan" userId="S::luis.bryan@mail.bcu.ac.uk::008f8afd-7427-4332-9e7e-cd5a4d28860f" providerId="AD" clId="Web-{2BF734E1-C213-65B3-8A2E-0D3A0084EC27}" dt="2025-12-12T15:44:29.960" v="250" actId="20577"/>
        <pc:sldMkLst>
          <pc:docMk/>
          <pc:sldMk cId="2364782256" sldId="259"/>
        </pc:sldMkLst>
        <pc:spChg chg="mod">
          <ac:chgData name="Luis Bryan" userId="S::luis.bryan@mail.bcu.ac.uk::008f8afd-7427-4332-9e7e-cd5a4d28860f" providerId="AD" clId="Web-{2BF734E1-C213-65B3-8A2E-0D3A0084EC27}" dt="2025-12-12T15:44:29.960" v="250" actId="20577"/>
          <ac:spMkLst>
            <pc:docMk/>
            <pc:sldMk cId="2364782256" sldId="259"/>
            <ac:spMk id="4" creationId="{869E114F-6078-4BA1-E05A-D0BA907E5B56}"/>
          </ac:spMkLst>
        </pc:spChg>
      </pc:sldChg>
      <pc:sldChg chg="ord">
        <pc:chgData name="Luis Bryan" userId="S::luis.bryan@mail.bcu.ac.uk::008f8afd-7427-4332-9e7e-cd5a4d28860f" providerId="AD" clId="Web-{2BF734E1-C213-65B3-8A2E-0D3A0084EC27}" dt="2025-12-12T15:44:17.225" v="246"/>
        <pc:sldMkLst>
          <pc:docMk/>
          <pc:sldMk cId="4041265617" sldId="264"/>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12/12/2025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12/12/2025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12/12/2025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www.nintendoblast.com.br/2021/06/frogun-jogo-plataforma-tridimensional-anunciado-switch.html"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FE24D-5330-A550-F15F-450A11E4E124}"/>
              </a:ext>
            </a:extLst>
          </p:cNvPr>
          <p:cNvSpPr>
            <a:spLocks noGrp="1"/>
          </p:cNvSpPr>
          <p:nvPr>
            <p:ph type="ctrTitle"/>
          </p:nvPr>
        </p:nvSpPr>
        <p:spPr/>
        <p:txBody>
          <a:bodyPr/>
          <a:lstStyle/>
          <a:p>
            <a:r>
              <a:rPr lang="en-US" dirty="0"/>
              <a:t>Untitled 3D Platformer</a:t>
            </a:r>
          </a:p>
        </p:txBody>
      </p:sp>
      <p:sp>
        <p:nvSpPr>
          <p:cNvPr id="3" name="Subtitle 2">
            <a:extLst>
              <a:ext uri="{FF2B5EF4-FFF2-40B4-BE49-F238E27FC236}">
                <a16:creationId xmlns:a16="http://schemas.microsoft.com/office/drawing/2014/main" id="{EBD654FC-E593-C6CC-5281-F88CCE6E5156}"/>
              </a:ext>
            </a:extLst>
          </p:cNvPr>
          <p:cNvSpPr>
            <a:spLocks noGrp="1"/>
          </p:cNvSpPr>
          <p:nvPr>
            <p:ph type="subTitle" idx="1"/>
          </p:nvPr>
        </p:nvSpPr>
        <p:spPr/>
        <p:txBody>
          <a:bodyPr vert="horz" lIns="91440" tIns="45720" rIns="91440" bIns="45720" rtlCol="0" anchor="t">
            <a:normAutofit/>
          </a:bodyPr>
          <a:lstStyle/>
          <a:p>
            <a:r>
              <a:rPr lang="en-US" dirty="0"/>
              <a:t>By Luis Bryan</a:t>
            </a:r>
          </a:p>
        </p:txBody>
      </p:sp>
    </p:spTree>
    <p:extLst>
      <p:ext uri="{BB962C8B-B14F-4D97-AF65-F5344CB8AC3E}">
        <p14:creationId xmlns:p14="http://schemas.microsoft.com/office/powerpoint/2010/main" val="9631998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1D2A1-E77B-C546-4898-3BD77267C759}"/>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F9721BD-8144-EBB7-0421-42ADDB135EA0}"/>
              </a:ext>
            </a:extLst>
          </p:cNvPr>
          <p:cNvGraphicFramePr>
            <a:graphicFrameLocks noGrp="1"/>
          </p:cNvGraphicFramePr>
          <p:nvPr>
            <p:extLst>
              <p:ext uri="{D42A27DB-BD31-4B8C-83A1-F6EECF244321}">
                <p14:modId xmlns:p14="http://schemas.microsoft.com/office/powerpoint/2010/main" val="2136773828"/>
              </p:ext>
            </p:extLst>
          </p:nvPr>
        </p:nvGraphicFramePr>
        <p:xfrm>
          <a:off x="772732" y="10732"/>
          <a:ext cx="10884598" cy="6884186"/>
        </p:xfrm>
        <a:graphic>
          <a:graphicData uri="http://schemas.openxmlformats.org/drawingml/2006/table">
            <a:tbl>
              <a:tblPr firstRow="1" bandRow="1">
                <a:tableStyleId>{5C22544A-7EE6-4342-B048-85BDC9FD1C3A}</a:tableStyleId>
              </a:tblPr>
              <a:tblGrid>
                <a:gridCol w="5442299">
                  <a:extLst>
                    <a:ext uri="{9D8B030D-6E8A-4147-A177-3AD203B41FA5}">
                      <a16:colId xmlns:a16="http://schemas.microsoft.com/office/drawing/2014/main" val="3038587753"/>
                    </a:ext>
                  </a:extLst>
                </a:gridCol>
                <a:gridCol w="5442299">
                  <a:extLst>
                    <a:ext uri="{9D8B030D-6E8A-4147-A177-3AD203B41FA5}">
                      <a16:colId xmlns:a16="http://schemas.microsoft.com/office/drawing/2014/main" val="2673531632"/>
                    </a:ext>
                  </a:extLst>
                </a:gridCol>
              </a:tblGrid>
              <a:tr h="554687">
                <a:tc>
                  <a:txBody>
                    <a:bodyPr/>
                    <a:lstStyle/>
                    <a:p>
                      <a:r>
                        <a:rPr lang="en-US" dirty="0"/>
                        <a:t>NEEDED FEATURES</a:t>
                      </a:r>
                    </a:p>
                  </a:txBody>
                  <a:tcPr/>
                </a:tc>
                <a:tc>
                  <a:txBody>
                    <a:bodyPr/>
                    <a:lstStyle/>
                    <a:p>
                      <a:r>
                        <a:rPr lang="en-US" dirty="0"/>
                        <a:t> IMPLEMENTED FEATURES</a:t>
                      </a:r>
                    </a:p>
                  </a:txBody>
                  <a:tcPr/>
                </a:tc>
                <a:extLst>
                  <a:ext uri="{0D108BD9-81ED-4DB2-BD59-A6C34878D82A}">
                    <a16:rowId xmlns:a16="http://schemas.microsoft.com/office/drawing/2014/main" val="548982795"/>
                  </a:ext>
                </a:extLst>
              </a:tr>
              <a:tr h="806817">
                <a:tc>
                  <a:txBody>
                    <a:bodyPr/>
                    <a:lstStyle/>
                    <a:p>
                      <a:pPr lvl="0">
                        <a:buNone/>
                      </a:pPr>
                      <a:r>
                        <a:rPr lang="en-GB" sz="1400" b="0" i="0" u="none" strike="noStrike" baseline="0" noProof="0" dirty="0">
                          <a:solidFill>
                            <a:srgbClr val="000000"/>
                          </a:solidFill>
                          <a:latin typeface="Aptos"/>
                        </a:rPr>
                        <a:t>Can be correctly deployed using Node.js and Live Server.</a:t>
                      </a:r>
                      <a:endParaRPr lang="en-US" sz="1400" dirty="0"/>
                    </a:p>
                  </a:txBody>
                  <a:tcPr/>
                </a:tc>
                <a:tc>
                  <a:txBody>
                    <a:bodyPr/>
                    <a:lstStyle/>
                    <a:p>
                      <a:pPr lvl="0">
                        <a:buNone/>
                      </a:pPr>
                      <a:r>
                        <a:rPr lang="en-GB" sz="1400" b="0" i="0" u="none" strike="noStrike" noProof="0" dirty="0">
                          <a:solidFill>
                            <a:srgbClr val="000000"/>
                          </a:solidFill>
                          <a:latin typeface="Aptos"/>
                        </a:rPr>
                        <a:t>Can be correctly deployed using Node.js and Live Server.</a:t>
                      </a:r>
                      <a:endParaRPr lang="en-US" sz="1400"/>
                    </a:p>
                  </a:txBody>
                  <a:tcPr/>
                </a:tc>
                <a:extLst>
                  <a:ext uri="{0D108BD9-81ED-4DB2-BD59-A6C34878D82A}">
                    <a16:rowId xmlns:a16="http://schemas.microsoft.com/office/drawing/2014/main" val="4142358154"/>
                  </a:ext>
                </a:extLst>
              </a:tr>
              <a:tr h="554687">
                <a:tc>
                  <a:txBody>
                    <a:bodyPr/>
                    <a:lstStyle/>
                    <a:p>
                      <a:pPr lvl="0">
                        <a:buNone/>
                      </a:pPr>
                      <a:r>
                        <a:rPr lang="en-GB" sz="1400" b="0" i="0" u="none" strike="noStrike" noProof="0" dirty="0">
                          <a:solidFill>
                            <a:srgbClr val="000000"/>
                          </a:solidFill>
                          <a:latin typeface="Aptos"/>
                        </a:rPr>
                        <a:t>All Web pages function as written in HTML and the style CSS.</a:t>
                      </a:r>
                    </a:p>
                  </a:txBody>
                  <a:tcPr/>
                </a:tc>
                <a:tc>
                  <a:txBody>
                    <a:bodyPr/>
                    <a:lstStyle/>
                    <a:p>
                      <a:pPr lvl="0">
                        <a:buNone/>
                      </a:pPr>
                      <a:r>
                        <a:rPr lang="en-GB" sz="1400" b="0" i="0" u="none" strike="noStrike" noProof="0" dirty="0">
                          <a:solidFill>
                            <a:srgbClr val="000000"/>
                          </a:solidFill>
                          <a:latin typeface="Aptos"/>
                        </a:rPr>
                        <a:t>All Web pages function as written in HTML and the style CSS.</a:t>
                      </a:r>
                      <a:endParaRPr lang="en-US" sz="1400"/>
                    </a:p>
                  </a:txBody>
                  <a:tcPr/>
                </a:tc>
                <a:extLst>
                  <a:ext uri="{0D108BD9-81ED-4DB2-BD59-A6C34878D82A}">
                    <a16:rowId xmlns:a16="http://schemas.microsoft.com/office/drawing/2014/main" val="4113721898"/>
                  </a:ext>
                </a:extLst>
              </a:tr>
              <a:tr h="726136">
                <a:tc>
                  <a:txBody>
                    <a:bodyPr/>
                    <a:lstStyle/>
                    <a:p>
                      <a:pPr lvl="0">
                        <a:buNone/>
                      </a:pPr>
                      <a:r>
                        <a:rPr lang="en-GB" sz="1400" b="0" i="0" u="none" strike="noStrike" noProof="0" dirty="0">
                          <a:solidFill>
                            <a:srgbClr val="000000"/>
                          </a:solidFill>
                          <a:latin typeface="Aptos"/>
                        </a:rPr>
                        <a:t>All required web pages are implemented (Introduction page, Login page, New user register page, 404-page, game loading page and game pages).</a:t>
                      </a:r>
                    </a:p>
                  </a:txBody>
                  <a:tcPr/>
                </a:tc>
                <a:tc>
                  <a:txBody>
                    <a:bodyPr/>
                    <a:lstStyle/>
                    <a:p>
                      <a:pPr lvl="0">
                        <a:buNone/>
                      </a:pPr>
                      <a:r>
                        <a:rPr lang="en-US" sz="1400" b="0" i="0" u="none" strike="noStrike" baseline="0" noProof="0" dirty="0">
                          <a:solidFill>
                            <a:srgbClr val="000000"/>
                          </a:solidFill>
                          <a:latin typeface="Aptos"/>
                        </a:rPr>
                        <a:t>All required web pages are implemented (Introduction page, Login page, New user register page, 404-page, game loading page and game pages).</a:t>
                      </a:r>
                      <a:endParaRPr lang="en-US" sz="1400"/>
                    </a:p>
                  </a:txBody>
                  <a:tcPr/>
                </a:tc>
                <a:extLst>
                  <a:ext uri="{0D108BD9-81ED-4DB2-BD59-A6C34878D82A}">
                    <a16:rowId xmlns:a16="http://schemas.microsoft.com/office/drawing/2014/main" val="3071146858"/>
                  </a:ext>
                </a:extLst>
              </a:tr>
              <a:tr h="554687">
                <a:tc>
                  <a:txBody>
                    <a:bodyPr/>
                    <a:lstStyle/>
                    <a:p>
                      <a:pPr lvl="0">
                        <a:buNone/>
                      </a:pPr>
                      <a:r>
                        <a:rPr lang="en-GB" sz="1400" b="0" i="0" u="none" strike="noStrike" noProof="0" dirty="0">
                          <a:solidFill>
                            <a:srgbClr val="000000"/>
                          </a:solidFill>
                          <a:latin typeface="Aptos"/>
                        </a:rPr>
                        <a:t>Website has basic correct hyperlink to all pages</a:t>
                      </a:r>
                    </a:p>
                  </a:txBody>
                  <a:tcPr/>
                </a:tc>
                <a:tc>
                  <a:txBody>
                    <a:bodyPr/>
                    <a:lstStyle/>
                    <a:p>
                      <a:pPr marL="0" indent="0">
                        <a:buNone/>
                      </a:pPr>
                      <a:r>
                        <a:rPr lang="en-US" sz="1400" dirty="0"/>
                        <a:t>Website has basic correct hyperlink to all pages</a:t>
                      </a:r>
                    </a:p>
                  </a:txBody>
                  <a:tcPr/>
                </a:tc>
                <a:extLst>
                  <a:ext uri="{0D108BD9-81ED-4DB2-BD59-A6C34878D82A}">
                    <a16:rowId xmlns:a16="http://schemas.microsoft.com/office/drawing/2014/main" val="2187216078"/>
                  </a:ext>
                </a:extLst>
              </a:tr>
              <a:tr h="554687">
                <a:tc>
                  <a:txBody>
                    <a:bodyPr/>
                    <a:lstStyle/>
                    <a:p>
                      <a:pPr lvl="0">
                        <a:buNone/>
                      </a:pPr>
                      <a:r>
                        <a:rPr lang="en-GB" sz="1400" b="0" i="0" u="none" strike="noStrike" noProof="0" dirty="0">
                          <a:solidFill>
                            <a:srgbClr val="000000"/>
                          </a:solidFill>
                          <a:latin typeface="Aptos"/>
                        </a:rPr>
                        <a:t>404 page is deployed correctly</a:t>
                      </a:r>
                      <a:r>
                        <a:rPr lang="en-US" sz="1400" dirty="0"/>
                        <a:t>, if incorrect link is entered.</a:t>
                      </a:r>
                    </a:p>
                  </a:txBody>
                  <a:tcPr/>
                </a:tc>
                <a:tc>
                  <a:txBody>
                    <a:bodyPr/>
                    <a:lstStyle/>
                    <a:p>
                      <a:pPr lvl="0">
                        <a:buNone/>
                      </a:pPr>
                      <a:r>
                        <a:rPr lang="en-GB" sz="1400" b="0" i="0" u="none" strike="noStrike" noProof="0" dirty="0">
                          <a:solidFill>
                            <a:srgbClr val="000000"/>
                          </a:solidFill>
                          <a:latin typeface="Aptos"/>
                        </a:rPr>
                        <a:t>404 page is deployed correctly</a:t>
                      </a:r>
                      <a:r>
                        <a:rPr lang="en-US" sz="1400" b="0" i="0" u="none" strike="noStrike" noProof="0" dirty="0">
                          <a:solidFill>
                            <a:srgbClr val="000000"/>
                          </a:solidFill>
                          <a:latin typeface="Aptos"/>
                        </a:rPr>
                        <a:t>, if incorrect link is entered.</a:t>
                      </a:r>
                      <a:endParaRPr lang="en-US" sz="1400"/>
                    </a:p>
                  </a:txBody>
                  <a:tcPr/>
                </a:tc>
                <a:extLst>
                  <a:ext uri="{0D108BD9-81ED-4DB2-BD59-A6C34878D82A}">
                    <a16:rowId xmlns:a16="http://schemas.microsoft.com/office/drawing/2014/main" val="2122725635"/>
                  </a:ext>
                </a:extLst>
              </a:tr>
              <a:tr h="554687">
                <a:tc>
                  <a:txBody>
                    <a:bodyPr/>
                    <a:lstStyle/>
                    <a:p>
                      <a:pPr lvl="0">
                        <a:buNone/>
                      </a:pPr>
                      <a:r>
                        <a:rPr lang="en-GB" sz="1400" b="0" i="0" u="none" strike="noStrike" noProof="0" dirty="0">
                          <a:solidFill>
                            <a:srgbClr val="000000"/>
                          </a:solidFill>
                          <a:latin typeface="Aptos"/>
                        </a:rPr>
                        <a:t>Responsive design: the web pages are rendered according to the window size. </a:t>
                      </a:r>
                      <a:endParaRPr lang="en-US" sz="1400" b="0" i="0" u="none" strike="noStrike" noProof="0" dirty="0">
                        <a:solidFill>
                          <a:srgbClr val="000000"/>
                        </a:solidFill>
                        <a:latin typeface="Aptos"/>
                      </a:endParaRPr>
                    </a:p>
                  </a:txBody>
                  <a:tcPr/>
                </a:tc>
                <a:tc>
                  <a:txBody>
                    <a:bodyPr/>
                    <a:lstStyle/>
                    <a:p>
                      <a:pPr lvl="0">
                        <a:buNone/>
                      </a:pPr>
                      <a:r>
                        <a:rPr lang="en-GB" sz="1400" b="0" i="0" u="none" strike="noStrike" baseline="0" noProof="0" dirty="0">
                          <a:solidFill>
                            <a:srgbClr val="000000"/>
                          </a:solidFill>
                          <a:latin typeface="Aptos"/>
                        </a:rPr>
                        <a:t>Responsive design: the web pages are rendered according to the window size. </a:t>
                      </a:r>
                      <a:endParaRPr lang="en-US" sz="1400"/>
                    </a:p>
                  </a:txBody>
                  <a:tcPr/>
                </a:tc>
                <a:extLst>
                  <a:ext uri="{0D108BD9-81ED-4DB2-BD59-A6C34878D82A}">
                    <a16:rowId xmlns:a16="http://schemas.microsoft.com/office/drawing/2014/main" val="1400406932"/>
                  </a:ext>
                </a:extLst>
              </a:tr>
              <a:tr h="554687">
                <a:tc>
                  <a:txBody>
                    <a:bodyPr/>
                    <a:lstStyle/>
                    <a:p>
                      <a:pPr lvl="0">
                        <a:buNone/>
                      </a:pPr>
                      <a:r>
                        <a:rPr lang="en-GB" sz="1400" b="0" i="0" u="none" strike="noStrike" baseline="0" noProof="0" dirty="0">
                          <a:solidFill>
                            <a:srgbClr val="000000"/>
                          </a:solidFill>
                          <a:latin typeface="Aptos"/>
                        </a:rPr>
                        <a:t>fully working with correct login &amp; register web interface.</a:t>
                      </a:r>
                      <a:endParaRPr lang="en-US" sz="1400" dirty="0"/>
                    </a:p>
                  </a:txBody>
                  <a:tcPr/>
                </a:tc>
                <a:tc>
                  <a:txBody>
                    <a:bodyPr/>
                    <a:lstStyle/>
                    <a:p>
                      <a:pPr lvl="0">
                        <a:buNone/>
                      </a:pPr>
                      <a:r>
                        <a:rPr lang="en-US" sz="1400" dirty="0"/>
                        <a:t>Mock-Up nonfunctioning </a:t>
                      </a:r>
                      <a:r>
                        <a:rPr lang="en-GB" sz="1400" b="0" i="0" u="none" strike="noStrike" noProof="0" dirty="0">
                          <a:solidFill>
                            <a:srgbClr val="000000"/>
                          </a:solidFill>
                          <a:latin typeface="Aptos"/>
                        </a:rPr>
                        <a:t>correct login &amp; register web interface.</a:t>
                      </a:r>
                      <a:endParaRPr lang="en-US" sz="1400" dirty="0"/>
                    </a:p>
                  </a:txBody>
                  <a:tcPr/>
                </a:tc>
                <a:extLst>
                  <a:ext uri="{0D108BD9-81ED-4DB2-BD59-A6C34878D82A}">
                    <a16:rowId xmlns:a16="http://schemas.microsoft.com/office/drawing/2014/main" val="4250897475"/>
                  </a:ext>
                </a:extLst>
              </a:tr>
              <a:tr h="554687">
                <a:tc>
                  <a:txBody>
                    <a:bodyPr/>
                    <a:lstStyle/>
                    <a:p>
                      <a:pPr lvl="0">
                        <a:buNone/>
                      </a:pPr>
                      <a:r>
                        <a:rPr lang="en-GB" sz="1400" b="0" i="0" u="none" strike="noStrike" noProof="0" dirty="0">
                          <a:solidFill>
                            <a:srgbClr val="000000"/>
                          </a:solidFill>
                          <a:latin typeface="Aptos"/>
                        </a:rPr>
                        <a:t>music is working and can be heard on the website.</a:t>
                      </a:r>
                    </a:p>
                  </a:txBody>
                  <a:tcPr/>
                </a:tc>
                <a:tc>
                  <a:txBody>
                    <a:bodyPr/>
                    <a:lstStyle/>
                    <a:p>
                      <a:pPr lvl="0">
                        <a:buNone/>
                      </a:pPr>
                      <a:r>
                        <a:rPr lang="en-GB" sz="1400" b="0" i="0" u="none" strike="noStrike" noProof="0" dirty="0">
                          <a:solidFill>
                            <a:srgbClr val="000000"/>
                          </a:solidFill>
                          <a:latin typeface="Aptos"/>
                        </a:rPr>
                        <a:t>music is working and can be heard on the website.</a:t>
                      </a:r>
                      <a:endParaRPr lang="en-US" sz="1400"/>
                    </a:p>
                  </a:txBody>
                  <a:tcPr/>
                </a:tc>
                <a:extLst>
                  <a:ext uri="{0D108BD9-81ED-4DB2-BD59-A6C34878D82A}">
                    <a16:rowId xmlns:a16="http://schemas.microsoft.com/office/drawing/2014/main" val="2590426167"/>
                  </a:ext>
                </a:extLst>
              </a:tr>
              <a:tr h="726136">
                <a:tc>
                  <a:txBody>
                    <a:bodyPr/>
                    <a:lstStyle/>
                    <a:p>
                      <a:pPr lvl="0">
                        <a:buNone/>
                      </a:pPr>
                      <a:r>
                        <a:rPr lang="en-GB" sz="1400" b="0" i="0" u="none" strike="noStrike" noProof="0" dirty="0">
                          <a:solidFill>
                            <a:srgbClr val="000000"/>
                          </a:solidFill>
                          <a:latin typeface="Aptos"/>
                        </a:rPr>
                        <a:t>Website and apps is working on the latest Google Chrome and Microsoft Edge web browsers for both PC and mobile devices (including game UI interaction). </a:t>
                      </a:r>
                    </a:p>
                  </a:txBody>
                  <a:tcPr/>
                </a:tc>
                <a:tc>
                  <a:txBody>
                    <a:bodyPr/>
                    <a:lstStyle/>
                    <a:p>
                      <a:pPr lvl="0">
                        <a:buNone/>
                      </a:pPr>
                      <a:r>
                        <a:rPr lang="en-GB" sz="1400" b="0" i="0" u="none" strike="noStrike" baseline="0" noProof="0" dirty="0">
                          <a:solidFill>
                            <a:srgbClr val="000000"/>
                          </a:solidFill>
                          <a:latin typeface="Aptos"/>
                        </a:rPr>
                        <a:t>Website and apps is working on the latest Google Chrome and Microsoft Edge web browsers for both PC and mobile devices (including game UI interaction). </a:t>
                      </a:r>
                      <a:endParaRPr lang="en-US" sz="1400"/>
                    </a:p>
                  </a:txBody>
                  <a:tcPr/>
                </a:tc>
                <a:extLst>
                  <a:ext uri="{0D108BD9-81ED-4DB2-BD59-A6C34878D82A}">
                    <a16:rowId xmlns:a16="http://schemas.microsoft.com/office/drawing/2014/main" val="3659898771"/>
                  </a:ext>
                </a:extLst>
              </a:tr>
              <a:tr h="726136">
                <a:tc>
                  <a:txBody>
                    <a:bodyPr/>
                    <a:lstStyle/>
                    <a:p>
                      <a:pPr lvl="0">
                        <a:buNone/>
                      </a:pPr>
                      <a:r>
                        <a:rPr lang="en-GB" sz="1400" b="0" i="0" u="none" strike="noStrike" noProof="0" dirty="0">
                          <a:solidFill>
                            <a:srgbClr val="000000"/>
                          </a:solidFill>
                          <a:latin typeface="Aptos"/>
                        </a:rPr>
                        <a:t>Has “Readme” documentation (Can be formatted in .txt or .doc), clearly describe the website's project folder structure (database design if any) and the key points you have achieved. </a:t>
                      </a:r>
                    </a:p>
                  </a:txBody>
                  <a:tcPr/>
                </a:tc>
                <a:tc>
                  <a:txBody>
                    <a:bodyPr/>
                    <a:lstStyle/>
                    <a:p>
                      <a:pPr lvl="0">
                        <a:buNone/>
                      </a:pPr>
                      <a:r>
                        <a:rPr lang="en-GB" sz="1400" b="0" i="0" u="none" strike="noStrike" noProof="0" dirty="0">
                          <a:solidFill>
                            <a:srgbClr val="000000"/>
                          </a:solidFill>
                          <a:latin typeface="Aptos"/>
                        </a:rPr>
                        <a:t>Has “Readme” documentation (Can be formatted in .txt or .doc), clearly describe the website's project folder structure (database design if any) and the key points you have achieved. </a:t>
                      </a:r>
                      <a:endParaRPr lang="en-US" sz="1400"/>
                    </a:p>
                  </a:txBody>
                  <a:tcPr/>
                </a:tc>
                <a:extLst>
                  <a:ext uri="{0D108BD9-81ED-4DB2-BD59-A6C34878D82A}">
                    <a16:rowId xmlns:a16="http://schemas.microsoft.com/office/drawing/2014/main" val="3340894663"/>
                  </a:ext>
                </a:extLst>
              </a:tr>
            </a:tbl>
          </a:graphicData>
        </a:graphic>
      </p:graphicFrame>
    </p:spTree>
    <p:extLst>
      <p:ext uri="{BB962C8B-B14F-4D97-AF65-F5344CB8AC3E}">
        <p14:creationId xmlns:p14="http://schemas.microsoft.com/office/powerpoint/2010/main" val="20679817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82573-88C9-7164-A09E-71E6711138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E7491D-2EC0-706F-7193-932E23B16067}"/>
              </a:ext>
            </a:extLst>
          </p:cNvPr>
          <p:cNvSpPr>
            <a:spLocks noGrp="1"/>
          </p:cNvSpPr>
          <p:nvPr>
            <p:ph type="title"/>
          </p:nvPr>
        </p:nvSpPr>
        <p:spPr/>
        <p:txBody>
          <a:bodyPr/>
          <a:lstStyle/>
          <a:p>
            <a:r>
              <a:rPr lang="en-US" dirty="0"/>
              <a:t>Game Plan:</a:t>
            </a:r>
          </a:p>
        </p:txBody>
      </p:sp>
      <p:sp>
        <p:nvSpPr>
          <p:cNvPr id="3" name="Content Placeholder 2">
            <a:extLst>
              <a:ext uri="{FF2B5EF4-FFF2-40B4-BE49-F238E27FC236}">
                <a16:creationId xmlns:a16="http://schemas.microsoft.com/office/drawing/2014/main" id="{7FDB8EFF-EC14-96A7-B3ED-2B4971198A3B}"/>
              </a:ext>
            </a:extLst>
          </p:cNvPr>
          <p:cNvSpPr>
            <a:spLocks noGrp="1"/>
          </p:cNvSpPr>
          <p:nvPr>
            <p:ph idx="1"/>
          </p:nvPr>
        </p:nvSpPr>
        <p:spPr>
          <a:xfrm>
            <a:off x="848360" y="1825625"/>
            <a:ext cx="5966245" cy="5030711"/>
          </a:xfrm>
        </p:spPr>
        <p:txBody>
          <a:bodyPr vert="horz" lIns="91440" tIns="45720" rIns="91440" bIns="45720" rtlCol="0" anchor="t">
            <a:normAutofit fontScale="85000" lnSpcReduction="20000"/>
          </a:bodyPr>
          <a:lstStyle/>
          <a:p>
            <a:pPr marL="0" indent="0">
              <a:buNone/>
            </a:pPr>
            <a:r>
              <a:rPr lang="en-US" dirty="0"/>
              <a:t>3D Platformer game</a:t>
            </a:r>
            <a:endParaRPr lang="en-US"/>
          </a:p>
          <a:p>
            <a:pPr marL="0" indent="0">
              <a:buNone/>
            </a:pPr>
            <a:r>
              <a:rPr lang="en-US" dirty="0"/>
              <a:t>Theme: Adventure Game</a:t>
            </a:r>
          </a:p>
          <a:p>
            <a:pPr marL="0" indent="0">
              <a:buNone/>
            </a:pPr>
            <a:r>
              <a:rPr lang="en-US" dirty="0"/>
              <a:t>Goal: </a:t>
            </a:r>
          </a:p>
          <a:p>
            <a:r>
              <a:rPr lang="en-US" dirty="0"/>
              <a:t>To reach of level</a:t>
            </a:r>
          </a:p>
          <a:p>
            <a:r>
              <a:rPr lang="en-US" dirty="0"/>
              <a:t> To keep player engaged</a:t>
            </a:r>
          </a:p>
          <a:p>
            <a:r>
              <a:rPr lang="en-US" dirty="0"/>
              <a:t>Encourage </a:t>
            </a:r>
            <a:r>
              <a:rPr lang="en-US" dirty="0">
                <a:solidFill>
                  <a:srgbClr val="000000"/>
                </a:solidFill>
                <a:ea typeface="+mn-lt"/>
                <a:cs typeface="+mn-lt"/>
              </a:rPr>
              <a:t>replay ability</a:t>
            </a:r>
          </a:p>
          <a:p>
            <a:r>
              <a:rPr lang="en-US" dirty="0"/>
              <a:t>To challenge player's skills.</a:t>
            </a:r>
          </a:p>
          <a:p>
            <a:pPr marL="0" indent="0">
              <a:buNone/>
            </a:pPr>
            <a:endParaRPr lang="en-US" dirty="0"/>
          </a:p>
          <a:p>
            <a:pPr marL="0" indent="0">
              <a:buNone/>
            </a:pPr>
            <a:r>
              <a:rPr lang="en-US" b="1" dirty="0"/>
              <a:t>Design Pillars: </a:t>
            </a:r>
          </a:p>
          <a:p>
            <a:r>
              <a:rPr lang="en-US" dirty="0"/>
              <a:t>Movement, </a:t>
            </a:r>
          </a:p>
          <a:p>
            <a:r>
              <a:rPr lang="en-US" dirty="0"/>
              <a:t>Puzzles, </a:t>
            </a:r>
          </a:p>
          <a:p>
            <a:r>
              <a:rPr lang="en-US" dirty="0"/>
              <a:t>Exploration and </a:t>
            </a:r>
          </a:p>
          <a:p>
            <a:r>
              <a:rPr lang="en-US" dirty="0"/>
              <a:t>Environments</a:t>
            </a:r>
          </a:p>
        </p:txBody>
      </p:sp>
      <p:pic>
        <p:nvPicPr>
          <p:cNvPr id="5" name="Picture 4" descr="A video game with a video game&#10;&#10;AI-generated content may be incorrect.">
            <a:extLst>
              <a:ext uri="{FF2B5EF4-FFF2-40B4-BE49-F238E27FC236}">
                <a16:creationId xmlns:a16="http://schemas.microsoft.com/office/drawing/2014/main" id="{0A7F6896-665E-8FCA-6C76-B3E28E289FF0}"/>
              </a:ext>
            </a:extLst>
          </p:cNvPr>
          <p:cNvPicPr>
            <a:picLocks noChangeAspect="1"/>
          </p:cNvPicPr>
          <p:nvPr/>
        </p:nvPicPr>
        <p:blipFill>
          <a:blip r:embed="rId2">
            <a:extLst>
              <a:ext uri="{837473B0-CC2E-450A-ABE3-18F120FF3D39}">
                <a1611:picAttrSrcUrl xmlns:a1611="http://schemas.microsoft.com/office/drawing/2016/11/main" r:id="rId3"/>
              </a:ext>
            </a:extLst>
          </a:blip>
          <a:srcRect l="24685" t="-703" r="30898" b="897"/>
          <a:stretch>
            <a:fillRect/>
          </a:stretch>
        </p:blipFill>
        <p:spPr>
          <a:xfrm>
            <a:off x="6817360" y="0"/>
            <a:ext cx="5371515" cy="6846436"/>
          </a:xfrm>
          <a:prstGeom prst="rect">
            <a:avLst/>
          </a:prstGeom>
        </p:spPr>
      </p:pic>
    </p:spTree>
    <p:extLst>
      <p:ext uri="{BB962C8B-B14F-4D97-AF65-F5344CB8AC3E}">
        <p14:creationId xmlns:p14="http://schemas.microsoft.com/office/powerpoint/2010/main" val="40412656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6F8C8E1-6F5A-80B4-5095-45D070BE93A1}"/>
              </a:ext>
            </a:extLst>
          </p:cNvPr>
          <p:cNvGraphicFramePr>
            <a:graphicFrameLocks noGrp="1"/>
          </p:cNvGraphicFramePr>
          <p:nvPr>
            <p:extLst>
              <p:ext uri="{D42A27DB-BD31-4B8C-83A1-F6EECF244321}">
                <p14:modId xmlns:p14="http://schemas.microsoft.com/office/powerpoint/2010/main" val="3525375232"/>
              </p:ext>
            </p:extLst>
          </p:nvPr>
        </p:nvGraphicFramePr>
        <p:xfrm>
          <a:off x="772732" y="10732"/>
          <a:ext cx="10884598" cy="6857893"/>
        </p:xfrm>
        <a:graphic>
          <a:graphicData uri="http://schemas.openxmlformats.org/drawingml/2006/table">
            <a:tbl>
              <a:tblPr firstRow="1" bandRow="1">
                <a:tableStyleId>{5C22544A-7EE6-4342-B048-85BDC9FD1C3A}</a:tableStyleId>
              </a:tblPr>
              <a:tblGrid>
                <a:gridCol w="5442299">
                  <a:extLst>
                    <a:ext uri="{9D8B030D-6E8A-4147-A177-3AD203B41FA5}">
                      <a16:colId xmlns:a16="http://schemas.microsoft.com/office/drawing/2014/main" val="3038587753"/>
                    </a:ext>
                  </a:extLst>
                </a:gridCol>
                <a:gridCol w="5442299">
                  <a:extLst>
                    <a:ext uri="{9D8B030D-6E8A-4147-A177-3AD203B41FA5}">
                      <a16:colId xmlns:a16="http://schemas.microsoft.com/office/drawing/2014/main" val="2673531632"/>
                    </a:ext>
                  </a:extLst>
                </a:gridCol>
              </a:tblGrid>
              <a:tr h="543094">
                <a:tc>
                  <a:txBody>
                    <a:bodyPr/>
                    <a:lstStyle/>
                    <a:p>
                      <a:r>
                        <a:rPr lang="en-US" dirty="0"/>
                        <a:t>NEEDED FEATURES</a:t>
                      </a:r>
                    </a:p>
                  </a:txBody>
                  <a:tcPr/>
                </a:tc>
                <a:tc>
                  <a:txBody>
                    <a:bodyPr/>
                    <a:lstStyle/>
                    <a:p>
                      <a:r>
                        <a:rPr lang="en-US" dirty="0"/>
                        <a:t> IMPLEMENTED FEATURES</a:t>
                      </a:r>
                    </a:p>
                  </a:txBody>
                  <a:tcPr/>
                </a:tc>
                <a:extLst>
                  <a:ext uri="{0D108BD9-81ED-4DB2-BD59-A6C34878D82A}">
                    <a16:rowId xmlns:a16="http://schemas.microsoft.com/office/drawing/2014/main" val="548982795"/>
                  </a:ext>
                </a:extLst>
              </a:tr>
              <a:tr h="777370">
                <a:tc>
                  <a:txBody>
                    <a:bodyPr/>
                    <a:lstStyle/>
                    <a:p>
                      <a:pPr lvl="0">
                        <a:buNone/>
                      </a:pPr>
                      <a:r>
                        <a:rPr lang="en-US" sz="1200" b="0" i="0" u="none" strike="noStrike" baseline="0" noProof="0" dirty="0">
                          <a:solidFill>
                            <a:srgbClr val="000000"/>
                          </a:solidFill>
                          <a:latin typeface="Aptos"/>
                        </a:rPr>
                        <a:t>Game assets: for example, character, landscape/environment and enemy design (if applicable).</a:t>
                      </a:r>
                    </a:p>
                  </a:txBody>
                  <a:tcPr/>
                </a:tc>
                <a:tc>
                  <a:txBody>
                    <a:bodyPr/>
                    <a:lstStyle/>
                    <a:p>
                      <a:r>
                        <a:rPr lang="en-US" sz="1200" dirty="0"/>
                        <a:t>Basic placeholder assets:</a:t>
                      </a:r>
                    </a:p>
                    <a:p>
                      <a:pPr marL="285750" lvl="0" indent="-285750">
                        <a:buFont typeface="Arial"/>
                        <a:buChar char="•"/>
                      </a:pPr>
                      <a:r>
                        <a:rPr lang="en-US" sz="1200" dirty="0"/>
                        <a:t> primitive meshes</a:t>
                      </a:r>
                    </a:p>
                    <a:p>
                      <a:pPr marL="285750" lvl="0" indent="-285750">
                        <a:buFont typeface="Arial"/>
                        <a:buChar char="•"/>
                      </a:pPr>
                      <a:r>
                        <a:rPr lang="en-US" sz="1200" dirty="0"/>
                        <a:t> 3D Model loader Implemented</a:t>
                      </a:r>
                    </a:p>
                  </a:txBody>
                  <a:tcPr/>
                </a:tc>
                <a:extLst>
                  <a:ext uri="{0D108BD9-81ED-4DB2-BD59-A6C34878D82A}">
                    <a16:rowId xmlns:a16="http://schemas.microsoft.com/office/drawing/2014/main" val="4142358154"/>
                  </a:ext>
                </a:extLst>
              </a:tr>
              <a:tr h="543094">
                <a:tc>
                  <a:txBody>
                    <a:bodyPr/>
                    <a:lstStyle/>
                    <a:p>
                      <a:pPr lvl="0">
                        <a:buNone/>
                      </a:pPr>
                      <a:r>
                        <a:rPr lang="en-GB" sz="1200" b="0" i="0" u="none" strike="noStrike" noProof="0" dirty="0">
                          <a:solidFill>
                            <a:srgbClr val="000000"/>
                          </a:solidFill>
                          <a:latin typeface="Aptos"/>
                        </a:rPr>
                        <a:t>Game material design: light, texture, material for the game assets</a:t>
                      </a:r>
                      <a:endParaRPr lang="en-US" sz="1200" b="0" i="0" u="none" strike="noStrike" noProof="0" dirty="0">
                        <a:solidFill>
                          <a:srgbClr val="000000"/>
                        </a:solidFill>
                        <a:latin typeface="Aptos"/>
                      </a:endParaRPr>
                    </a:p>
                  </a:txBody>
                  <a:tcPr/>
                </a:tc>
                <a:tc>
                  <a:txBody>
                    <a:bodyPr/>
                    <a:lstStyle/>
                    <a:p>
                      <a:r>
                        <a:rPr lang="en-US" sz="1200" dirty="0"/>
                        <a:t>Basic Lights and Materials + textured skybox + Shadows for player and </a:t>
                      </a:r>
                      <a:r>
                        <a:rPr lang="en-US" sz="1200" dirty="0" err="1"/>
                        <a:t>terran</a:t>
                      </a:r>
                    </a:p>
                  </a:txBody>
                  <a:tcPr/>
                </a:tc>
                <a:extLst>
                  <a:ext uri="{0D108BD9-81ED-4DB2-BD59-A6C34878D82A}">
                    <a16:rowId xmlns:a16="http://schemas.microsoft.com/office/drawing/2014/main" val="4113721898"/>
                  </a:ext>
                </a:extLst>
              </a:tr>
              <a:tr h="543094">
                <a:tc>
                  <a:txBody>
                    <a:bodyPr/>
                    <a:lstStyle/>
                    <a:p>
                      <a:pPr lvl="0">
                        <a:buNone/>
                      </a:pPr>
                      <a:r>
                        <a:rPr lang="en-GB" sz="1200" b="0" i="0" u="none" strike="noStrike" noProof="0" dirty="0">
                          <a:solidFill>
                            <a:srgbClr val="000000"/>
                          </a:solidFill>
                          <a:latin typeface="Aptos"/>
                        </a:rPr>
                        <a:t>Game animation: animation of game assets</a:t>
                      </a:r>
                      <a:endParaRPr lang="en-US" sz="1200" b="0" i="0" u="none" strike="noStrike" noProof="0" dirty="0">
                        <a:solidFill>
                          <a:srgbClr val="000000"/>
                        </a:solidFill>
                        <a:latin typeface="Aptos"/>
                      </a:endParaRPr>
                    </a:p>
                  </a:txBody>
                  <a:tcPr/>
                </a:tc>
                <a:tc>
                  <a:txBody>
                    <a:bodyPr/>
                    <a:lstStyle/>
                    <a:p>
                      <a:r>
                        <a:rPr lang="en-US" sz="1200" dirty="0"/>
                        <a:t>Basic rotation animation of models</a:t>
                      </a:r>
                    </a:p>
                  </a:txBody>
                  <a:tcPr/>
                </a:tc>
                <a:extLst>
                  <a:ext uri="{0D108BD9-81ED-4DB2-BD59-A6C34878D82A}">
                    <a16:rowId xmlns:a16="http://schemas.microsoft.com/office/drawing/2014/main" val="3071146858"/>
                  </a:ext>
                </a:extLst>
              </a:tr>
              <a:tr h="543094">
                <a:tc>
                  <a:txBody>
                    <a:bodyPr/>
                    <a:lstStyle/>
                    <a:p>
                      <a:pPr lvl="0">
                        <a:buNone/>
                      </a:pPr>
                      <a:r>
                        <a:rPr lang="en-GB" sz="1200" b="0" i="0" u="none" strike="noStrike" noProof="0" dirty="0">
                          <a:solidFill>
                            <a:srgbClr val="000000"/>
                          </a:solidFill>
                          <a:latin typeface="Aptos"/>
                        </a:rPr>
                        <a:t>Game interaction: user interaction with the game object</a:t>
                      </a:r>
                      <a:endParaRPr lang="en-US" sz="1200" b="0" i="0" u="none" strike="noStrike" noProof="0" dirty="0">
                        <a:solidFill>
                          <a:srgbClr val="000000"/>
                        </a:solidFill>
                        <a:latin typeface="Aptos"/>
                      </a:endParaRPr>
                    </a:p>
                  </a:txBody>
                  <a:tcPr/>
                </a:tc>
                <a:tc>
                  <a:txBody>
                    <a:bodyPr/>
                    <a:lstStyle/>
                    <a:p>
                      <a:pPr marL="285750" indent="-285750">
                        <a:buFont typeface="Arial"/>
                        <a:buChar char="•"/>
                      </a:pPr>
                      <a:r>
                        <a:rPr lang="en-US" sz="1200" dirty="0"/>
                        <a:t>Fully controllable character with gravity and jump via keyboard</a:t>
                      </a:r>
                    </a:p>
                    <a:p>
                      <a:pPr marL="285750" lvl="0" indent="-285750">
                        <a:buFont typeface="Arial"/>
                        <a:buChar char="•"/>
                      </a:pPr>
                      <a:r>
                        <a:rPr lang="en-US" sz="1200" dirty="0"/>
                        <a:t>Interaction with elements from HTML Document (buttons, stats)</a:t>
                      </a:r>
                    </a:p>
                  </a:txBody>
                  <a:tcPr/>
                </a:tc>
                <a:extLst>
                  <a:ext uri="{0D108BD9-81ED-4DB2-BD59-A6C34878D82A}">
                    <a16:rowId xmlns:a16="http://schemas.microsoft.com/office/drawing/2014/main" val="2187216078"/>
                  </a:ext>
                </a:extLst>
              </a:tr>
              <a:tr h="543094">
                <a:tc>
                  <a:txBody>
                    <a:bodyPr/>
                    <a:lstStyle/>
                    <a:p>
                      <a:pPr lvl="0">
                        <a:buNone/>
                      </a:pPr>
                      <a:r>
                        <a:rPr lang="en-GB" sz="1200" b="0" i="0" u="none" strike="noStrike" noProof="0" dirty="0">
                          <a:solidFill>
                            <a:srgbClr val="000000"/>
                          </a:solidFill>
                          <a:latin typeface="Aptos"/>
                        </a:rPr>
                        <a:t>Game UI: UI overlay on the web game for scores and life state etc.</a:t>
                      </a:r>
                      <a:endParaRPr lang="en-US" sz="1200" b="0" i="0" u="none" strike="noStrike" noProof="0" dirty="0">
                        <a:solidFill>
                          <a:srgbClr val="000000"/>
                        </a:solidFill>
                        <a:latin typeface="Aptos"/>
                      </a:endParaRPr>
                    </a:p>
                  </a:txBody>
                  <a:tcPr/>
                </a:tc>
                <a:tc>
                  <a:txBody>
                    <a:bodyPr/>
                    <a:lstStyle/>
                    <a:p>
                      <a:pPr lvl="0" algn="l">
                        <a:lnSpc>
                          <a:spcPct val="100000"/>
                        </a:lnSpc>
                        <a:spcBef>
                          <a:spcPts val="0"/>
                        </a:spcBef>
                        <a:spcAft>
                          <a:spcPts val="0"/>
                        </a:spcAft>
                        <a:buNone/>
                      </a:pPr>
                      <a:r>
                        <a:rPr lang="en-US" sz="1200" b="0" i="0" u="none" strike="noStrike" noProof="0" dirty="0">
                          <a:solidFill>
                            <a:srgbClr val="000000"/>
                          </a:solidFill>
                          <a:latin typeface="Aptos"/>
                        </a:rPr>
                        <a:t>Basic UI and Pause menu</a:t>
                      </a:r>
                      <a:endParaRPr lang="en-US" dirty="0"/>
                    </a:p>
                  </a:txBody>
                  <a:tcPr/>
                </a:tc>
                <a:extLst>
                  <a:ext uri="{0D108BD9-81ED-4DB2-BD59-A6C34878D82A}">
                    <a16:rowId xmlns:a16="http://schemas.microsoft.com/office/drawing/2014/main" val="4110036434"/>
                  </a:ext>
                </a:extLst>
              </a:tr>
              <a:tr h="543094">
                <a:tc>
                  <a:txBody>
                    <a:bodyPr/>
                    <a:lstStyle/>
                    <a:p>
                      <a:pPr lvl="0">
                        <a:buNone/>
                      </a:pPr>
                      <a:r>
                        <a:rPr lang="en-GB" sz="1200" b="0" i="0" u="none" strike="noStrike" noProof="0" dirty="0">
                          <a:solidFill>
                            <a:srgbClr val="000000"/>
                          </a:solidFill>
                          <a:latin typeface="Aptos"/>
                        </a:rPr>
                        <a:t>Game mechanism: Fully functioning user interface displaying player statistics (i.e. lives or health), scores and rewards / penalties.</a:t>
                      </a:r>
                      <a:endParaRPr lang="en-US" sz="1200" b="0" i="0" u="none" strike="noStrike" noProof="0" dirty="0">
                        <a:solidFill>
                          <a:srgbClr val="000000"/>
                        </a:solidFill>
                        <a:latin typeface="Aptos"/>
                      </a:endParaRPr>
                    </a:p>
                  </a:txBody>
                  <a:tcPr/>
                </a:tc>
                <a:tc>
                  <a:txBody>
                    <a:bodyPr/>
                    <a:lstStyle/>
                    <a:p>
                      <a:r>
                        <a:rPr lang="en-US" sz="1200" b="0" dirty="0"/>
                        <a:t>Non-Functional Health and Score UI</a:t>
                      </a:r>
                    </a:p>
                  </a:txBody>
                  <a:tcPr/>
                </a:tc>
                <a:extLst>
                  <a:ext uri="{0D108BD9-81ED-4DB2-BD59-A6C34878D82A}">
                    <a16:rowId xmlns:a16="http://schemas.microsoft.com/office/drawing/2014/main" val="2122725635"/>
                  </a:ext>
                </a:extLst>
              </a:tr>
              <a:tr h="543094">
                <a:tc>
                  <a:txBody>
                    <a:bodyPr/>
                    <a:lstStyle/>
                    <a:p>
                      <a:pPr lvl="0">
                        <a:buNone/>
                      </a:pPr>
                      <a:r>
                        <a:rPr lang="en-GB" sz="1200" b="0" i="0" u="none" strike="noStrike" noProof="0" dirty="0">
                          <a:solidFill>
                            <a:srgbClr val="000000"/>
                          </a:solidFill>
                          <a:latin typeface="Aptos"/>
                        </a:rPr>
                        <a:t>Responsive design: the web page and game are rendered according to the window size. </a:t>
                      </a:r>
                      <a:endParaRPr lang="en-US" sz="1200" b="0" i="0" u="none" strike="noStrike" noProof="0" dirty="0">
                        <a:solidFill>
                          <a:srgbClr val="000000"/>
                        </a:solidFill>
                        <a:latin typeface="Aptos"/>
                      </a:endParaRPr>
                    </a:p>
                  </a:txBody>
                  <a:tcPr/>
                </a:tc>
                <a:tc>
                  <a:txBody>
                    <a:bodyPr/>
                    <a:lstStyle/>
                    <a:p>
                      <a:pPr lvl="0">
                        <a:buNone/>
                      </a:pPr>
                      <a:r>
                        <a:rPr lang="en-US" sz="1200" b="0" i="0" u="none" strike="noStrike" baseline="0" noProof="0" dirty="0">
                          <a:solidFill>
                            <a:srgbClr val="000000"/>
                          </a:solidFill>
                          <a:latin typeface="Aptos"/>
                        </a:rPr>
                        <a:t>The web page and game are rendered according to the window size. </a:t>
                      </a:r>
                      <a:endParaRPr lang="en-US" sz="1200" dirty="0"/>
                    </a:p>
                  </a:txBody>
                  <a:tcPr/>
                </a:tc>
                <a:extLst>
                  <a:ext uri="{0D108BD9-81ED-4DB2-BD59-A6C34878D82A}">
                    <a16:rowId xmlns:a16="http://schemas.microsoft.com/office/drawing/2014/main" val="1400406932"/>
                  </a:ext>
                </a:extLst>
              </a:tr>
              <a:tr h="543094">
                <a:tc>
                  <a:txBody>
                    <a:bodyPr/>
                    <a:lstStyle/>
                    <a:p>
                      <a:pPr lvl="0">
                        <a:buNone/>
                      </a:pPr>
                      <a:r>
                        <a:rPr lang="en-GB" sz="1200" b="0" i="0" u="none" strike="noStrike" noProof="0" dirty="0">
                          <a:solidFill>
                            <a:srgbClr val="000000"/>
                          </a:solidFill>
                          <a:latin typeface="Aptos"/>
                        </a:rPr>
                        <a:t>Game level design: game level or difficulty increase as the user score increases. </a:t>
                      </a:r>
                    </a:p>
                  </a:txBody>
                  <a:tcPr/>
                </a:tc>
                <a:tc>
                  <a:txBody>
                    <a:bodyPr/>
                    <a:lstStyle/>
                    <a:p>
                      <a:pPr lvl="0">
                        <a:buNone/>
                      </a:pPr>
                      <a:r>
                        <a:rPr lang="en-US" sz="1200" b="0" i="0" u="none" strike="noStrike" noProof="0" dirty="0">
                          <a:solidFill>
                            <a:srgbClr val="000000"/>
                          </a:solidFill>
                          <a:latin typeface="Aptos"/>
                        </a:rPr>
                        <a:t>Test Level and WIP first level implemented, more planned </a:t>
                      </a:r>
                      <a:endParaRPr lang="en-US" b="0" dirty="0"/>
                    </a:p>
                  </a:txBody>
                  <a:tcPr/>
                </a:tc>
                <a:extLst>
                  <a:ext uri="{0D108BD9-81ED-4DB2-BD59-A6C34878D82A}">
                    <a16:rowId xmlns:a16="http://schemas.microsoft.com/office/drawing/2014/main" val="4250897475"/>
                  </a:ext>
                </a:extLst>
              </a:tr>
              <a:tr h="543094">
                <a:tc>
                  <a:txBody>
                    <a:bodyPr/>
                    <a:lstStyle/>
                    <a:p>
                      <a:pPr lvl="0">
                        <a:buNone/>
                      </a:pPr>
                      <a:r>
                        <a:rPr lang="en-GB" sz="1200" b="0" i="0" u="none" strike="noStrike" noProof="0" dirty="0">
                          <a:solidFill>
                            <a:srgbClr val="000000"/>
                          </a:solidFill>
                          <a:latin typeface="Aptos"/>
                        </a:rPr>
                        <a:t>Game audio: audio (music and sound) is working and can be used in the game.</a:t>
                      </a:r>
                    </a:p>
                  </a:txBody>
                  <a:tcPr/>
                </a:tc>
                <a:tc>
                  <a:txBody>
                    <a:bodyPr/>
                    <a:lstStyle/>
                    <a:p>
                      <a:pPr lvl="0">
                        <a:buNone/>
                      </a:pPr>
                      <a:r>
                        <a:rPr lang="en-US" sz="1200" dirty="0"/>
                        <a:t>Placeholder Music implemented</a:t>
                      </a:r>
                    </a:p>
                  </a:txBody>
                  <a:tcPr/>
                </a:tc>
                <a:extLst>
                  <a:ext uri="{0D108BD9-81ED-4DB2-BD59-A6C34878D82A}">
                    <a16:rowId xmlns:a16="http://schemas.microsoft.com/office/drawing/2014/main" val="2590426167"/>
                  </a:ext>
                </a:extLst>
              </a:tr>
              <a:tr h="543094">
                <a:tc>
                  <a:txBody>
                    <a:bodyPr/>
                    <a:lstStyle/>
                    <a:p>
                      <a:pPr lvl="0">
                        <a:buNone/>
                      </a:pPr>
                      <a:r>
                        <a:rPr lang="en-GB" sz="1200" b="0" i="0" u="none" strike="noStrike" noProof="0" dirty="0">
                          <a:solidFill>
                            <a:srgbClr val="000000"/>
                          </a:solidFill>
                          <a:latin typeface="Aptos"/>
                        </a:rPr>
                        <a:t>Game is working on the latest Google Chrome web browser for both PC and mobile devices (including game UI interaction). </a:t>
                      </a:r>
                    </a:p>
                  </a:txBody>
                  <a:tcPr/>
                </a:tc>
                <a:tc>
                  <a:txBody>
                    <a:bodyPr/>
                    <a:lstStyle/>
                    <a:p>
                      <a:pPr lvl="0">
                        <a:buNone/>
                      </a:pPr>
                      <a:r>
                        <a:rPr lang="en-US" sz="1200" b="0" i="0" u="none" strike="noStrike" baseline="0" noProof="0" dirty="0">
                          <a:solidFill>
                            <a:srgbClr val="000000"/>
                          </a:solidFill>
                          <a:latin typeface="Aptos"/>
                        </a:rPr>
                        <a:t>Working on the latest Google Chrome and Microsoft Edge web browser for PC (Mobile not yet tested)</a:t>
                      </a:r>
                      <a:endParaRPr lang="en-US" sz="1200" dirty="0"/>
                    </a:p>
                  </a:txBody>
                  <a:tcPr/>
                </a:tc>
                <a:extLst>
                  <a:ext uri="{0D108BD9-81ED-4DB2-BD59-A6C34878D82A}">
                    <a16:rowId xmlns:a16="http://schemas.microsoft.com/office/drawing/2014/main" val="3659898771"/>
                  </a:ext>
                </a:extLst>
              </a:tr>
              <a:tr h="649583">
                <a:tc>
                  <a:txBody>
                    <a:bodyPr/>
                    <a:lstStyle/>
                    <a:p>
                      <a:pPr lvl="0">
                        <a:buNone/>
                      </a:pPr>
                      <a:r>
                        <a:rPr lang="en-GB" sz="1200" b="0" i="0" u="none" strike="noStrike" noProof="0" dirty="0">
                          <a:solidFill>
                            <a:srgbClr val="000000"/>
                          </a:solidFill>
                          <a:latin typeface="Aptos"/>
                        </a:rPr>
                        <a:t>Has “Readme” documentation (Can be formatted in .txt or .doc), clearly describe how to play the game, the game project folder structure (database design if any) and the key points you have achieved. </a:t>
                      </a:r>
                    </a:p>
                  </a:txBody>
                  <a:tcPr/>
                </a:tc>
                <a:tc>
                  <a:txBody>
                    <a:bodyPr/>
                    <a:lstStyle/>
                    <a:p>
                      <a:pPr lvl="0">
                        <a:buNone/>
                      </a:pPr>
                      <a:r>
                        <a:rPr lang="en-US" sz="1200" dirty="0"/>
                        <a:t>Yes, with full credits and explanations of project file structure</a:t>
                      </a:r>
                    </a:p>
                  </a:txBody>
                  <a:tcPr/>
                </a:tc>
                <a:extLst>
                  <a:ext uri="{0D108BD9-81ED-4DB2-BD59-A6C34878D82A}">
                    <a16:rowId xmlns:a16="http://schemas.microsoft.com/office/drawing/2014/main" val="3340894663"/>
                  </a:ext>
                </a:extLst>
              </a:tr>
            </a:tbl>
          </a:graphicData>
        </a:graphic>
      </p:graphicFrame>
    </p:spTree>
    <p:extLst>
      <p:ext uri="{BB962C8B-B14F-4D97-AF65-F5344CB8AC3E}">
        <p14:creationId xmlns:p14="http://schemas.microsoft.com/office/powerpoint/2010/main" val="1098572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screenshot of a computer program&#10;&#10;AI-generated content may be incorrect.">
            <a:extLst>
              <a:ext uri="{FF2B5EF4-FFF2-40B4-BE49-F238E27FC236}">
                <a16:creationId xmlns:a16="http://schemas.microsoft.com/office/drawing/2014/main" id="{10C081EC-5C4E-EEB4-4C2D-D52860377DAA}"/>
              </a:ext>
            </a:extLst>
          </p:cNvPr>
          <p:cNvPicPr>
            <a:picLocks noGrp="1" noChangeAspect="1"/>
          </p:cNvPicPr>
          <p:nvPr>
            <p:ph idx="1"/>
          </p:nvPr>
        </p:nvPicPr>
        <p:blipFill>
          <a:blip r:embed="rId2"/>
          <a:srcRect l="16493" t="-1142" r="28993" b="-322"/>
          <a:stretch>
            <a:fillRect/>
          </a:stretch>
        </p:blipFill>
        <p:spPr>
          <a:xfrm>
            <a:off x="5408569" y="-77810"/>
            <a:ext cx="6788345" cy="6933880"/>
          </a:xfrm>
          <a:prstGeom prst="rect">
            <a:avLst/>
          </a:prstGeom>
        </p:spPr>
      </p:pic>
      <p:sp>
        <p:nvSpPr>
          <p:cNvPr id="4" name="Text Placeholder 3">
            <a:extLst>
              <a:ext uri="{FF2B5EF4-FFF2-40B4-BE49-F238E27FC236}">
                <a16:creationId xmlns:a16="http://schemas.microsoft.com/office/drawing/2014/main" id="{869E114F-6078-4BA1-E05A-D0BA907E5B56}"/>
              </a:ext>
            </a:extLst>
          </p:cNvPr>
          <p:cNvSpPr>
            <a:spLocks noGrp="1"/>
          </p:cNvSpPr>
          <p:nvPr>
            <p:ph type="body" sz="half" idx="2"/>
          </p:nvPr>
        </p:nvSpPr>
        <p:spPr>
          <a:xfrm>
            <a:off x="839788" y="1713964"/>
            <a:ext cx="4565447" cy="5142404"/>
          </a:xfrm>
        </p:spPr>
        <p:txBody>
          <a:bodyPr vert="horz" lIns="91440" tIns="45720" rIns="91440" bIns="45720" rtlCol="0" anchor="t">
            <a:normAutofit/>
          </a:bodyPr>
          <a:lstStyle/>
          <a:p>
            <a:r>
              <a:rPr lang="en-US" dirty="0"/>
              <a:t>This project was made using:</a:t>
            </a:r>
          </a:p>
          <a:p>
            <a:pPr marL="285750" indent="-285750">
              <a:buChar char="•"/>
            </a:pPr>
            <a:r>
              <a:rPr lang="en-US" dirty="0"/>
              <a:t>HTML (Hypertext Markup Language)</a:t>
            </a:r>
          </a:p>
          <a:p>
            <a:pPr marL="285750" indent="-285750">
              <a:buChar char="•"/>
            </a:pPr>
            <a:r>
              <a:rPr lang="en-US" dirty="0"/>
              <a:t>CSS (</a:t>
            </a:r>
            <a:r>
              <a:rPr lang="en-US" dirty="0">
                <a:solidFill>
                  <a:srgbClr val="000000"/>
                </a:solidFill>
                <a:ea typeface="+mn-lt"/>
                <a:cs typeface="+mn-lt"/>
              </a:rPr>
              <a:t>Cascading Style Sheets</a:t>
            </a:r>
            <a:r>
              <a:rPr lang="en-US" dirty="0"/>
              <a:t>)</a:t>
            </a:r>
          </a:p>
          <a:p>
            <a:pPr marL="285750" indent="-285750">
              <a:buChar char="•"/>
            </a:pPr>
            <a:r>
              <a:rPr lang="en-US" dirty="0"/>
              <a:t>JavaScript</a:t>
            </a:r>
          </a:p>
          <a:p>
            <a:pPr marL="285750" indent="-285750">
              <a:buChar char="•"/>
            </a:pPr>
            <a:r>
              <a:rPr lang="en-US" dirty="0"/>
              <a:t>Three.JS: 3d game and graphics </a:t>
            </a:r>
            <a:r>
              <a:rPr lang="en-US" dirty="0">
                <a:solidFill>
                  <a:srgbClr val="000000"/>
                </a:solidFill>
                <a:ea typeface="+mn-lt"/>
                <a:cs typeface="+mn-lt"/>
              </a:rPr>
              <a:t>library </a:t>
            </a:r>
            <a:r>
              <a:rPr lang="en-US" dirty="0"/>
              <a:t>for JavaScript</a:t>
            </a:r>
          </a:p>
          <a:p>
            <a:pPr marL="285750" indent="-285750">
              <a:buChar char="•"/>
            </a:pPr>
            <a:endParaRPr lang="en-US" dirty="0"/>
          </a:p>
          <a:p>
            <a:r>
              <a:rPr lang="en-US" dirty="0"/>
              <a:t>I used HTML to make the website that acts as the host for the game itself </a:t>
            </a:r>
            <a:r>
              <a:rPr lang="en-GB" dirty="0"/>
              <a:t>with</a:t>
            </a:r>
            <a:r>
              <a:rPr lang="en-US" dirty="0"/>
              <a:t> CSS to stylize the website to make it look nice, attractive and professional.</a:t>
            </a:r>
          </a:p>
          <a:p>
            <a:r>
              <a:rPr lang="en-US" dirty="0"/>
              <a:t>JavaScript enabled more low-level functionality via scripting for reading from files and functions.</a:t>
            </a:r>
          </a:p>
          <a:p>
            <a:r>
              <a:rPr lang="en-US" dirty="0"/>
              <a:t>Three.JS was the library responsible for making the actual game itself, making it easy to create 3D scenes and objects as foundations to build a game from.</a:t>
            </a:r>
          </a:p>
          <a:p>
            <a:endParaRPr lang="en-US" dirty="0"/>
          </a:p>
        </p:txBody>
      </p:sp>
      <p:sp>
        <p:nvSpPr>
          <p:cNvPr id="8" name="Title 1">
            <a:extLst>
              <a:ext uri="{FF2B5EF4-FFF2-40B4-BE49-F238E27FC236}">
                <a16:creationId xmlns:a16="http://schemas.microsoft.com/office/drawing/2014/main" id="{62F92248-6009-C09B-FBE6-C956E8682280}"/>
              </a:ext>
            </a:extLst>
          </p:cNvPr>
          <p:cNvSpPr txBox="1">
            <a:spLocks/>
          </p:cNvSpPr>
          <p:nvPr/>
        </p:nvSpPr>
        <p:spPr>
          <a:xfrm>
            <a:off x="838200" y="365125"/>
            <a:ext cx="4344473" cy="134702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US" dirty="0"/>
              <a:t>Engine / Programming Language:</a:t>
            </a:r>
          </a:p>
        </p:txBody>
      </p:sp>
    </p:spTree>
    <p:extLst>
      <p:ext uri="{BB962C8B-B14F-4D97-AF65-F5344CB8AC3E}">
        <p14:creationId xmlns:p14="http://schemas.microsoft.com/office/powerpoint/2010/main" val="2364782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4E23273-B8F8-017C-666B-227D38BE6B4D}"/>
            </a:ext>
          </a:extLst>
        </p:cNvPr>
        <p:cNvGrpSpPr/>
        <p:nvPr/>
      </p:nvGrpSpPr>
      <p:grpSpPr>
        <a:xfrm>
          <a:off x="0" y="0"/>
          <a:ext cx="0" cy="0"/>
          <a:chOff x="0" y="0"/>
          <a:chExt cx="0" cy="0"/>
        </a:xfrm>
      </p:grpSpPr>
      <p:sp useBgFill="1">
        <p:nvSpPr>
          <p:cNvPr id="14"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DB84807E-ACEE-7AAD-D24B-336D2E3B9A75}"/>
              </a:ext>
            </a:extLst>
          </p:cNvPr>
          <p:cNvSpPr txBox="1">
            <a:spLocks/>
          </p:cNvSpPr>
          <p:nvPr/>
        </p:nvSpPr>
        <p:spPr>
          <a:xfrm>
            <a:off x="761800" y="762001"/>
            <a:ext cx="5334197" cy="1708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spcAft>
                <a:spcPts val="600"/>
              </a:spcAft>
            </a:pPr>
            <a:r>
              <a:rPr lang="en-US" sz="4000"/>
              <a:t>Target Audience:</a:t>
            </a:r>
          </a:p>
        </p:txBody>
      </p:sp>
      <p:sp>
        <p:nvSpPr>
          <p:cNvPr id="4" name="Text Placeholder 3">
            <a:extLst>
              <a:ext uri="{FF2B5EF4-FFF2-40B4-BE49-F238E27FC236}">
                <a16:creationId xmlns:a16="http://schemas.microsoft.com/office/drawing/2014/main" id="{EA7A4C74-A06A-6FED-D290-2DDC7BF470E5}"/>
              </a:ext>
            </a:extLst>
          </p:cNvPr>
          <p:cNvSpPr>
            <a:spLocks noGrp="1"/>
          </p:cNvSpPr>
          <p:nvPr>
            <p:ph type="body" sz="half" idx="2"/>
          </p:nvPr>
        </p:nvSpPr>
        <p:spPr>
          <a:xfrm>
            <a:off x="761800" y="2470244"/>
            <a:ext cx="5334197" cy="3769835"/>
          </a:xfrm>
        </p:spPr>
        <p:txBody>
          <a:bodyPr vert="horz" lIns="91440" tIns="45720" rIns="91440" bIns="45720" rtlCol="0" anchor="ctr">
            <a:normAutofit/>
          </a:bodyPr>
          <a:lstStyle/>
          <a:p>
            <a:pPr indent="-228600">
              <a:buFont typeface="Arial" panose="020B0604020202020204" pitchFamily="34" charset="0"/>
              <a:buChar char="•"/>
            </a:pPr>
            <a:endParaRPr lang="en-US"/>
          </a:p>
          <a:p>
            <a:pPr indent="-228600">
              <a:buFont typeface="Arial" panose="020B0604020202020204" pitchFamily="34" charset="0"/>
              <a:buChar char="•"/>
            </a:pPr>
            <a:r>
              <a:rPr lang="en-US" dirty="0"/>
              <a:t>The main intended target audience for this game is for people of all ages, including both children and adults to enjoy</a:t>
            </a:r>
          </a:p>
          <a:p>
            <a:pPr indent="-228600">
              <a:buFont typeface="Arial" panose="020B0604020202020204" pitchFamily="34" charset="0"/>
              <a:buChar char="•"/>
            </a:pPr>
            <a:r>
              <a:rPr lang="en-US" dirty="0"/>
              <a:t>To achieve this to the best amount, the game should meet these characteristics to best attract these audience groups:</a:t>
            </a:r>
          </a:p>
          <a:p>
            <a:pPr marL="285750" indent="-228600">
              <a:buFont typeface="Arial" panose="020B0604020202020204" pitchFamily="34" charset="0"/>
              <a:buChar char="•"/>
            </a:pPr>
            <a:r>
              <a:rPr lang="en-US" dirty="0"/>
              <a:t>Fun and </a:t>
            </a:r>
            <a:r>
              <a:rPr lang="en-GB" dirty="0"/>
              <a:t>Colourful</a:t>
            </a:r>
            <a:r>
              <a:rPr lang="en-US" dirty="0"/>
              <a:t> visuals</a:t>
            </a:r>
          </a:p>
          <a:p>
            <a:pPr marL="285750" indent="-228600">
              <a:buFont typeface="Arial" panose="020B0604020202020204" pitchFamily="34" charset="0"/>
              <a:buChar char="•"/>
            </a:pPr>
            <a:r>
              <a:rPr lang="en-US" dirty="0"/>
              <a:t>Chill and Non-Intense atmosphere</a:t>
            </a:r>
          </a:p>
          <a:p>
            <a:pPr marL="285750" indent="-228600">
              <a:buFont typeface="Arial" panose="020B0604020202020204" pitchFamily="34" charset="0"/>
              <a:buChar char="•"/>
            </a:pPr>
            <a:r>
              <a:rPr lang="en-US" dirty="0"/>
              <a:t>Enticing puzzles with balanced challenge level</a:t>
            </a:r>
          </a:p>
          <a:p>
            <a:pPr marL="285750" indent="-228600">
              <a:buFont typeface="Arial" panose="020B0604020202020204" pitchFamily="34" charset="0"/>
              <a:buChar char="•"/>
            </a:pPr>
            <a:r>
              <a:rPr lang="en-US" dirty="0"/>
              <a:t>Awarding sense of achievement throughout game</a:t>
            </a:r>
          </a:p>
          <a:p>
            <a:pPr marL="285750" indent="-228600">
              <a:buFont typeface="Arial" panose="020B0604020202020204" pitchFamily="34" charset="0"/>
              <a:buChar char="•"/>
            </a:pPr>
            <a:r>
              <a:rPr lang="en-US" dirty="0"/>
              <a:t>Simple and intuitive controls</a:t>
            </a:r>
          </a:p>
        </p:txBody>
      </p:sp>
      <p:pic>
        <p:nvPicPr>
          <p:cNvPr id="10" name="Picture 9" descr="Colourful boardgame">
            <a:extLst>
              <a:ext uri="{FF2B5EF4-FFF2-40B4-BE49-F238E27FC236}">
                <a16:creationId xmlns:a16="http://schemas.microsoft.com/office/drawing/2014/main" id="{2DF0CD45-9D79-5C24-2943-0690958FA8E7}"/>
              </a:ext>
            </a:extLst>
          </p:cNvPr>
          <p:cNvPicPr>
            <a:picLocks noChangeAspect="1"/>
          </p:cNvPicPr>
          <p:nvPr/>
        </p:nvPicPr>
        <p:blipFill>
          <a:blip r:embed="rId2"/>
          <a:srcRect l="24010" r="24342" b="-5"/>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2663315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85A897-48B3-FC1B-6237-D7115A429FA2}"/>
            </a:ext>
          </a:extLst>
        </p:cNvPr>
        <p:cNvGrpSpPr/>
        <p:nvPr/>
      </p:nvGrpSpPr>
      <p:grpSpPr>
        <a:xfrm>
          <a:off x="0" y="0"/>
          <a:ext cx="0" cy="0"/>
          <a:chOff x="0" y="0"/>
          <a:chExt cx="0" cy="0"/>
        </a:xfrm>
      </p:grpSpPr>
      <p:sp useBgFill="1">
        <p:nvSpPr>
          <p:cNvPr id="14"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6" name="Rectangle 15">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035DD3F8-D58C-71EB-1A68-707D4CBACAD7}"/>
              </a:ext>
            </a:extLst>
          </p:cNvPr>
          <p:cNvSpPr txBox="1">
            <a:spLocks/>
          </p:cNvSpPr>
          <p:nvPr/>
        </p:nvSpPr>
        <p:spPr>
          <a:xfrm>
            <a:off x="761803" y="350196"/>
            <a:ext cx="4646904" cy="16245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spcAft>
                <a:spcPts val="600"/>
              </a:spcAft>
            </a:pPr>
            <a:r>
              <a:rPr lang="en-US" sz="4000"/>
              <a:t>Environments:</a:t>
            </a:r>
          </a:p>
        </p:txBody>
      </p:sp>
      <p:sp>
        <p:nvSpPr>
          <p:cNvPr id="4" name="Text Placeholder 3">
            <a:extLst>
              <a:ext uri="{FF2B5EF4-FFF2-40B4-BE49-F238E27FC236}">
                <a16:creationId xmlns:a16="http://schemas.microsoft.com/office/drawing/2014/main" id="{667B1526-5E3E-6AA7-D544-8A22C623FE84}"/>
              </a:ext>
            </a:extLst>
          </p:cNvPr>
          <p:cNvSpPr>
            <a:spLocks noGrp="1"/>
          </p:cNvSpPr>
          <p:nvPr>
            <p:ph type="body" sz="half" idx="2"/>
          </p:nvPr>
        </p:nvSpPr>
        <p:spPr>
          <a:xfrm>
            <a:off x="761802" y="2286000"/>
            <a:ext cx="5337785" cy="4568189"/>
          </a:xfrm>
        </p:spPr>
        <p:txBody>
          <a:bodyPr vert="horz" lIns="91440" tIns="45720" rIns="91440" bIns="45720" rtlCol="0" anchor="ctr">
            <a:normAutofit/>
          </a:bodyPr>
          <a:lstStyle/>
          <a:p>
            <a:pPr indent="-228600">
              <a:buFont typeface="Arial" panose="020B0604020202020204" pitchFamily="34" charset="0"/>
              <a:buChar char="•"/>
            </a:pPr>
            <a:endParaRPr lang="en-US" sz="1800"/>
          </a:p>
          <a:p>
            <a:r>
              <a:rPr lang="en-US" sz="1800" dirty="0"/>
              <a:t>For the game to visually enticing for all audiences, It would need to include a good amount of aesthetically attractive environments that player would want to explore.</a:t>
            </a:r>
          </a:p>
          <a:p>
            <a:pPr indent="-228600">
              <a:buFont typeface="Arial" panose="020B0604020202020204" pitchFamily="34" charset="0"/>
              <a:buChar char="•"/>
            </a:pPr>
            <a:endParaRPr lang="en-US" sz="1800"/>
          </a:p>
          <a:p>
            <a:r>
              <a:rPr lang="en-US" sz="1800" dirty="0"/>
              <a:t>Current ideas include:</a:t>
            </a:r>
          </a:p>
          <a:p>
            <a:pPr marL="285750" indent="-228600">
              <a:buFont typeface="Arial" panose="020B0604020202020204" pitchFamily="34" charset="0"/>
              <a:buChar char="•"/>
            </a:pPr>
            <a:r>
              <a:rPr lang="en-US" sz="1800" dirty="0"/>
              <a:t>Forest</a:t>
            </a:r>
          </a:p>
          <a:p>
            <a:pPr marL="285750" indent="-228600">
              <a:buFont typeface="Arial" panose="020B0604020202020204" pitchFamily="34" charset="0"/>
              <a:buChar char="•"/>
            </a:pPr>
            <a:r>
              <a:rPr lang="en-US" sz="1800" dirty="0"/>
              <a:t>Desert</a:t>
            </a:r>
          </a:p>
          <a:p>
            <a:pPr marL="285750" indent="-228600">
              <a:buFont typeface="Arial" panose="020B0604020202020204" pitchFamily="34" charset="0"/>
              <a:buChar char="•"/>
            </a:pPr>
            <a:r>
              <a:rPr lang="en-US" sz="1800" dirty="0"/>
              <a:t>Beach/Seaside</a:t>
            </a:r>
          </a:p>
          <a:p>
            <a:pPr marL="285750" indent="-228600">
              <a:buFont typeface="Arial" panose="020B0604020202020204" pitchFamily="34" charset="0"/>
              <a:buChar char="•"/>
            </a:pPr>
            <a:r>
              <a:rPr lang="en-US" sz="1800" dirty="0"/>
              <a:t>Sky (day or night)</a:t>
            </a:r>
          </a:p>
          <a:p>
            <a:pPr marL="285750" indent="-228600">
              <a:buFont typeface="Arial" panose="020B0604020202020204" pitchFamily="34" charset="0"/>
              <a:buChar char="•"/>
            </a:pPr>
            <a:r>
              <a:rPr lang="en-US" sz="1800" dirty="0"/>
              <a:t>Space</a:t>
            </a:r>
          </a:p>
          <a:p>
            <a:pPr marL="285750" indent="-228600">
              <a:buFont typeface="Arial" panose="020B0604020202020204" pitchFamily="34" charset="0"/>
              <a:buChar char="•"/>
            </a:pPr>
            <a:endParaRPr lang="en-US" sz="1800"/>
          </a:p>
        </p:txBody>
      </p:sp>
      <p:pic>
        <p:nvPicPr>
          <p:cNvPr id="10" name="Picture 9" descr="Purple night sky">
            <a:extLst>
              <a:ext uri="{FF2B5EF4-FFF2-40B4-BE49-F238E27FC236}">
                <a16:creationId xmlns:a16="http://schemas.microsoft.com/office/drawing/2014/main" id="{C3E49B96-6060-0B84-557F-1E668972F03B}"/>
              </a:ext>
            </a:extLst>
          </p:cNvPr>
          <p:cNvPicPr>
            <a:picLocks noChangeAspect="1"/>
          </p:cNvPicPr>
          <p:nvPr/>
        </p:nvPicPr>
        <p:blipFill>
          <a:blip r:embed="rId2"/>
          <a:srcRect l="18870" r="19473"/>
          <a:stretch>
            <a:fillRect/>
          </a:stretch>
        </p:blipFill>
        <p:spPr>
          <a:xfrm>
            <a:off x="6096000" y="1"/>
            <a:ext cx="6102825" cy="6858000"/>
          </a:xfrm>
          <a:prstGeom prst="rect">
            <a:avLst/>
          </a:prstGeom>
        </p:spPr>
      </p:pic>
    </p:spTree>
    <p:extLst>
      <p:ext uri="{BB962C8B-B14F-4D97-AF65-F5344CB8AC3E}">
        <p14:creationId xmlns:p14="http://schemas.microsoft.com/office/powerpoint/2010/main" val="39262831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Untitled 3D Platformer</vt:lpstr>
      <vt:lpstr>PowerPoint Presentation</vt:lpstr>
      <vt:lpstr>Game Plan: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431</cp:revision>
  <dcterms:created xsi:type="dcterms:W3CDTF">2025-10-27T10:40:28Z</dcterms:created>
  <dcterms:modified xsi:type="dcterms:W3CDTF">2025-12-12T15:45:01Z</dcterms:modified>
</cp:coreProperties>
</file>